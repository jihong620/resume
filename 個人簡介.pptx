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8"/>
  </p:notesMasterIdLst>
  <p:sldIdLst>
    <p:sldId id="304" r:id="rId4"/>
    <p:sldId id="303" r:id="rId5"/>
    <p:sldId id="260" r:id="rId6"/>
    <p:sldId id="264" r:id="rId7"/>
    <p:sldId id="302" r:id="rId8"/>
    <p:sldId id="300" r:id="rId9"/>
    <p:sldId id="289" r:id="rId10"/>
    <p:sldId id="290" r:id="rId11"/>
    <p:sldId id="265" r:id="rId12"/>
    <p:sldId id="267" r:id="rId13"/>
    <p:sldId id="269" r:id="rId14"/>
    <p:sldId id="270" r:id="rId15"/>
    <p:sldId id="285" r:id="rId16"/>
    <p:sldId id="281" r:id="rId17"/>
    <p:sldId id="266" r:id="rId19"/>
    <p:sldId id="284" r:id="rId20"/>
  </p:sldIdLst>
  <p:sldSz cx="9144000" cy="6858000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u="none" kern="1200" baseline="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0033CC"/>
    <a:srgbClr val="3333FF"/>
    <a:srgbClr val="C5D5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 showGuides="1">
      <p:cViewPr varScale="1">
        <p:scale>
          <a:sx n="69" d="100"/>
          <a:sy n="69" d="100"/>
        </p:scale>
        <p:origin x="-138" y="-102"/>
      </p:cViewPr>
      <p:guideLst>
        <p:guide orient="horz" pos="2071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1200" dirty="0"/>
          </a:p>
        </p:txBody>
      </p:sp>
      <p:sp>
        <p:nvSpPr>
          <p:cNvPr id="2051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fld id="{BB962C8B-B14F-4D97-AF65-F5344CB8AC3E}" type="datetime1">
              <a:rPr lang="zh-CN" altLang="en-US" sz="1200" dirty="0"/>
            </a:fld>
            <a:endParaRPr lang="zh-CN" altLang="en-US" sz="1200" dirty="0"/>
          </a:p>
        </p:txBody>
      </p:sp>
      <p:sp>
        <p:nvSpPr>
          <p:cNvPr id="2052" name="Rectangle 4"/>
          <p:cNvSpPr>
            <a:spLocks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4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en-US" altLang="x-none" sz="1200" dirty="0"/>
          </a:p>
        </p:txBody>
      </p:sp>
      <p:sp>
        <p:nvSpPr>
          <p:cNvPr id="2055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Calibri" panose="020F0502020204030204" pitchFamily="2" charset="0"/>
        <a:ea typeface="SimSun" panose="02010600030101010101" pitchFamily="2" charset="-122"/>
      </a:defRPr>
    </a:lvl1pPr>
    <a:lvl2pPr marL="457200" lvl="1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Calibri" panose="020F0502020204030204" pitchFamily="2" charset="0"/>
        <a:ea typeface="SimSun" panose="02010600030101010101" pitchFamily="2" charset="-122"/>
      </a:defRPr>
    </a:lvl2pPr>
    <a:lvl3pPr marL="914400" lvl="2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Calibri" panose="020F0502020204030204" pitchFamily="2" charset="0"/>
        <a:ea typeface="SimSun" panose="02010600030101010101" pitchFamily="2" charset="-122"/>
      </a:defRPr>
    </a:lvl3pPr>
    <a:lvl4pPr marL="1371600" lvl="3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Calibri" panose="020F0502020204030204" pitchFamily="2" charset="0"/>
        <a:ea typeface="SimSun" panose="02010600030101010101" pitchFamily="2" charset="-122"/>
      </a:defRPr>
    </a:lvl4pPr>
    <a:lvl5pPr marL="1828800" lvl="4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Calibri" panose="020F0502020204030204" pitchFamily="2" charset="0"/>
        <a:ea typeface="SimSun" panose="02010600030101010101" pitchFamily="2" charset="-122"/>
      </a:defRPr>
    </a:lvl5pPr>
    <a:lvl6pPr marL="2286000" lvl="5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Calibri" panose="020F0502020204030204" pitchFamily="2" charset="0"/>
        <a:ea typeface="SimSun" panose="02010600030101010101" pitchFamily="2" charset="-122"/>
      </a:defRPr>
    </a:lvl6pPr>
    <a:lvl7pPr marL="2743200" lvl="6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Calibri" panose="020F0502020204030204" pitchFamily="2" charset="0"/>
        <a:ea typeface="SimSun" panose="02010600030101010101" pitchFamily="2" charset="-122"/>
      </a:defRPr>
    </a:lvl7pPr>
    <a:lvl8pPr marL="3200400" lvl="7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Calibri" panose="020F0502020204030204" pitchFamily="2" charset="0"/>
        <a:ea typeface="SimSun" panose="02010600030101010101" pitchFamily="2" charset="-122"/>
      </a:defRPr>
    </a:lvl8pPr>
    <a:lvl9pPr marL="3657600" lvl="8" indent="0" algn="l" defTabSz="91440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u="none" kern="1200" baseline="0">
        <a:solidFill>
          <a:schemeClr val="tx1"/>
        </a:solidFill>
        <a:latin typeface="Calibri" panose="020F0502020204030204" pitchFamily="2" charset="0"/>
        <a:ea typeface="SimSun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幻燈片圖像佔位符 15361"/>
          <p:cNvSpPr>
            <a:spLocks noGrp="1"/>
          </p:cNvSpPr>
          <p:nvPr>
            <p:ph type="sldImg"/>
          </p:nvPr>
        </p:nvSpPr>
        <p:spPr>
          <a:ln w="1"/>
        </p:spPr>
      </p:sp>
      <p:sp>
        <p:nvSpPr>
          <p:cNvPr id="15363" name="文字佔位符 15362"/>
          <p:cNvSpPr>
            <a:spLocks noGrp="1"/>
          </p:cNvSpPr>
          <p:nvPr>
            <p:ph type="body" idx="1"/>
          </p:nvPr>
        </p:nvSpPr>
        <p:spPr>
          <a:ln w="1"/>
        </p:spPr>
        <p:txBody>
          <a:bodyPr anchor="ctr" anchorCtr="0"/>
          <a:p>
            <a:pPr lvl="0"/>
            <a:r>
              <a:rPr lang="zh-TW" altLang="en-US" dirty="0">
                <a:ea typeface="新細明體" panose="02020500000000000000" charset="-120"/>
              </a:rPr>
              <a:t>模型 overfiiting, </a:t>
            </a:r>
            <a:endParaRPr lang="zh-TW" altLang="en-US" dirty="0">
              <a:ea typeface="新細明體" panose="02020500000000000000" charset="-120"/>
            </a:endParaRPr>
          </a:p>
          <a:p>
            <a:pPr lvl="0"/>
            <a:r>
              <a:rPr lang="zh-TW" altLang="en-US" dirty="0">
                <a:ea typeface="新細明體" panose="02020500000000000000" charset="-120"/>
              </a:rPr>
              <a:t>PCA 降維: 數據標準化、選取前幾個最大的特徵值對應的特徵向量來做為座標軸, 將原始數據投射到新座標軸上, 可得降維數據</a:t>
            </a:r>
            <a:endParaRPr lang="zh-TW" altLang="en-US" dirty="0">
              <a:ea typeface="新細明體" panose="02020500000000000000" charset="-120"/>
            </a:endParaRPr>
          </a:p>
          <a:p>
            <a:pPr lvl="0"/>
            <a:r>
              <a:rPr lang="zh-TW" altLang="en-US" dirty="0">
                <a:ea typeface="新細明體" panose="02020500000000000000" charset="-120"/>
              </a:rPr>
              <a:t>L1 正則化: 在 loss function 加上懲罰項, 犧牲部分準確度來降低 overfitting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燈片圖像佔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字佔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HK" altLang="en-US"/>
          </a:p>
        </p:txBody>
      </p:sp>
      <p:sp>
        <p:nvSpPr>
          <p:cNvPr id="4" name="燈片編號佔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eaLnBrk="1" hangingPunct="1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9" name="Rectangle 5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80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•"/>
        <a:defRPr sz="240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–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hyperlink" Target="mailto:jihong620@gmail.com" TargetMode="External"/><Relationship Id="rId4" Type="http://schemas.openxmlformats.org/officeDocument/2006/relationships/image" Target="../media/image2.png"/><Relationship Id="rId3" Type="http://schemas.openxmlformats.org/officeDocument/2006/relationships/hyperlink" Target="https://github.com/Jihong620" TargetMode="External"/><Relationship Id="rId2" Type="http://schemas.openxmlformats.org/officeDocument/2006/relationships/image" Target="../media/image1.png"/><Relationship Id="rId1" Type="http://schemas.openxmlformats.org/officeDocument/2006/relationships/hyperlink" Target="https://www.linkedin.com/in/ji-hong-lin-543b761b1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hyperlink" Target="file:///C:\Users\jihon\Desktop\&#38754;&#35430;&#36039;&#26009;&#22846;\5.&#32080;&#21512;&#25391;&#21205;&#35338;&#34399;&#33287;&#35069;&#31243;&#25976;&#25818;&#65292;&#24314;&#31435;&#35373;&#20633;&#38928;&#35386;&#26039;&#31649;&#29702;&#31995;&#32113;-&#20197;&#22235;&#21582;&#36555;&#27231;&#27490;&#25512;&#36600;&#25215;&#28858;&#20363;_&#21488;&#20013;&#31995;&#32113;&#25972;&#21512;&#26519;&#23395;&#40251;2020_V7.docx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hyperlink" Target="file:///C:\Users\jihon\Downloads\&#35542;&#25991;&#25688;&#35201;.docx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74" name="標題 307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l"/>
            <a:r>
              <a:rPr lang="zh-TW" altLang="en-US" sz="4000" b="1" dirty="0">
                <a:solidFill>
                  <a:schemeClr val="tx1"/>
                </a:solidFill>
                <a:latin typeface="微軟正黑體" panose="020B0604030504040204" charset="-120"/>
                <a:ea typeface="微軟正黑體" panose="020B0604030504040204" charset="-120"/>
              </a:rPr>
              <a:t>個人簡介 </a:t>
            </a:r>
            <a:r>
              <a:rPr lang="zh-TW" altLang="en-US" sz="2000" b="1" dirty="0">
                <a:solidFill>
                  <a:schemeClr val="tx1"/>
                </a:solidFill>
                <a:latin typeface="微軟正黑體" panose="020B0604030504040204" charset="-120"/>
                <a:ea typeface="微軟正黑體" panose="020B0604030504040204" charset="-120"/>
              </a:rPr>
              <a:t>學歷、技能</a:t>
            </a:r>
            <a:endParaRPr lang="zh-TW" altLang="en-US" sz="2000" b="1" dirty="0">
              <a:solidFill>
                <a:schemeClr val="tx1"/>
              </a:solidFill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3075" name="內容佔位符 3074"/>
          <p:cNvSpPr>
            <a:spLocks noGrp="1"/>
          </p:cNvSpPr>
          <p:nvPr>
            <p:ph sz="half" idx="2"/>
          </p:nvPr>
        </p:nvSpPr>
        <p:spPr>
          <a:xfrm>
            <a:off x="3133725" y="2070100"/>
            <a:ext cx="5978525" cy="1214438"/>
          </a:xfrm>
        </p:spPr>
        <p:txBody>
          <a:bodyPr/>
          <a:p>
            <a:pPr>
              <a:buClrTx/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國立高雄應用科技大學  </a:t>
            </a:r>
            <a:r>
              <a:rPr lang="zh-TW" altLang="en-US" sz="1100" dirty="0">
                <a:latin typeface="微軟正黑體" panose="020B0604030504040204" charset="-120"/>
                <a:ea typeface="微軟正黑體" panose="020B0604030504040204" charset="-120"/>
              </a:rPr>
              <a:t>模具工程系</a:t>
            </a:r>
            <a:endParaRPr lang="zh-TW" altLang="en-US" sz="11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None/>
            </a:pP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	- 2017/8 - 2019/8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None/>
            </a:pP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	- 碩士論文 : 機器學習應用於玻璃基板縱橫向缺陷之檢測。</a:t>
            </a:r>
            <a:endParaRPr lang="zh-CN" altLang="en-US" sz="1800" dirty="0"/>
          </a:p>
        </p:txBody>
      </p:sp>
      <p:sp>
        <p:nvSpPr>
          <p:cNvPr id="3076" name="直線連接符 3075"/>
          <p:cNvSpPr/>
          <p:nvPr/>
        </p:nvSpPr>
        <p:spPr>
          <a:xfrm>
            <a:off x="3059113" y="2065338"/>
            <a:ext cx="1587" cy="10731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077" name="圖片 3076" descr="linkedin">
            <a:hlinkClick r:id="rId1" action="ppaction://hlinkfil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4583113"/>
            <a:ext cx="288925" cy="288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圖片 3077" descr="github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913" y="4584700"/>
            <a:ext cx="287337" cy="288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9" name="圖片 3078" descr="gmail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0713" y="4583113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80" name="矩形 3079"/>
          <p:cNvSpPr>
            <a:spLocks noGrp="1"/>
          </p:cNvSpPr>
          <p:nvPr/>
        </p:nvSpPr>
        <p:spPr>
          <a:xfrm>
            <a:off x="3133725" y="3289300"/>
            <a:ext cx="5978525" cy="24431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專長&amp;技能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lnSpc>
                <a:spcPct val="120000"/>
              </a:lnSpc>
              <a:buSzPct val="100000"/>
              <a:buFont typeface="Arial" panose="020B0604020202020204" pitchFamily="34" charset="0"/>
              <a:buNone/>
            </a:pP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	- 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後端相關：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Python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、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Golang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、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Java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lvl="0" indent="0">
              <a:lnSpc>
                <a:spcPct val="120000"/>
              </a:lnSpc>
              <a:buSzPct val="100000"/>
              <a:buFont typeface="Arial" panose="020B0604020202020204" pitchFamily="34" charset="0"/>
              <a:buNone/>
            </a:pP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- 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前端相關：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Javascript</a:t>
            </a:r>
            <a:endParaRPr lang="en-US" altLang="zh-TW" sz="1500" dirty="0"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lvl="0" indent="0">
              <a:lnSpc>
                <a:spcPct val="120000"/>
              </a:lnSpc>
              <a:buSzPct val="100000"/>
              <a:buFont typeface="Arial" panose="020B0604020202020204" pitchFamily="34" charset="0"/>
              <a:buNone/>
            </a:pP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- 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框架：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Django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、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Gin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、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Spring Boot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、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React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lvl="0" indent="0">
              <a:lnSpc>
                <a:spcPct val="120000"/>
              </a:lnSpc>
              <a:buSzPct val="100000"/>
              <a:buFont typeface="Arial" panose="020B0604020202020204" pitchFamily="34" charset="0"/>
              <a:buNone/>
            </a:pPr>
            <a:r>
              <a:rPr lang="en-US" altLang="zh-CN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- 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資料庫：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MariaDB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、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SQLite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、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MongoDB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  <a:p>
            <a:pPr lvl="0" indent="0">
              <a:lnSpc>
                <a:spcPct val="120000"/>
              </a:lnSpc>
              <a:buSzPct val="100000"/>
              <a:buFont typeface="Arial" panose="020B0604020202020204" pitchFamily="34" charset="0"/>
              <a:buNone/>
            </a:pP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- 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其他：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Git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、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</a:rPr>
              <a:t>Docker</a:t>
            </a:r>
            <a:endParaRPr lang="en-US" altLang="zh-TW" sz="1500" dirty="0">
              <a:latin typeface="微軟正黑體" panose="020B0604030504040204" charset="-120"/>
              <a:ea typeface="微軟正黑體" panose="020B0604030504040204" charset="-120"/>
              <a:cs typeface="微軟正黑體" panose="020B0604030504040204" charset="-120"/>
            </a:endParaRPr>
          </a:p>
        </p:txBody>
      </p:sp>
      <p:sp>
        <p:nvSpPr>
          <p:cNvPr id="3081" name="直線連接符 3080"/>
          <p:cNvSpPr/>
          <p:nvPr/>
        </p:nvSpPr>
        <p:spPr>
          <a:xfrm>
            <a:off x="3060700" y="3287713"/>
            <a:ext cx="0" cy="23050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83" name="文字框 3082"/>
          <p:cNvSpPr txBox="1"/>
          <p:nvPr/>
        </p:nvSpPr>
        <p:spPr>
          <a:xfrm>
            <a:off x="252413" y="3790950"/>
            <a:ext cx="2806700" cy="8007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>
              <a:lnSpc>
                <a:spcPct val="110000"/>
              </a:lnSpc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林季鴻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algn="ctr">
              <a:lnSpc>
                <a:spcPct val="110000"/>
              </a:lnSpc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3</a:t>
            </a:r>
            <a:r>
              <a:rPr lang="en-US" altLang="zh-TW" sz="1400" dirty="0">
                <a:latin typeface="微軟正黑體" panose="020B0604030504040204" charset="-120"/>
                <a:ea typeface="微軟正黑體" panose="020B0604030504040204" charset="-120"/>
              </a:rPr>
              <a:t>5</a:t>
            </a: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 歲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algn="ctr">
              <a:lnSpc>
                <a:spcPct val="110000"/>
              </a:lnSpc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資深後端工程師 ( </a:t>
            </a:r>
            <a:r>
              <a:rPr lang="en-US" altLang="zh-TW" sz="1400" dirty="0">
                <a:latin typeface="微軟正黑體" panose="020B0604030504040204" charset="-120"/>
                <a:ea typeface="微軟正黑體" panose="020B0604030504040204" charset="-120"/>
              </a:rPr>
              <a:t>6</a:t>
            </a: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 年經驗)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pic>
        <p:nvPicPr>
          <p:cNvPr id="3" name="圖片 2" descr="大頭貼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" y="2132965"/>
            <a:ext cx="1103630" cy="16046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98" name="標題 4097"/>
          <p:cNvSpPr>
            <a:spLocks noGrp="1"/>
          </p:cNvSpPr>
          <p:nvPr>
            <p:ph type="title"/>
          </p:nvPr>
        </p:nvSpPr>
        <p:spPr/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工作經驗</a:t>
            </a:r>
            <a:endParaRPr lang="zh-TW" altLang="en-US" sz="2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4099" name="矩形 4098"/>
          <p:cNvSpPr>
            <a:spLocks noGrp="1"/>
          </p:cNvSpPr>
          <p:nvPr/>
        </p:nvSpPr>
        <p:spPr>
          <a:xfrm>
            <a:off x="107950" y="3211513"/>
            <a:ext cx="2962275" cy="114776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緯創軟體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  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100" dirty="0">
                <a:latin typeface="微軟正黑體" panose="020B0604030504040204" charset="-120"/>
                <a:ea typeface="微軟正黑體" panose="020B0604030504040204" charset="-120"/>
              </a:rPr>
              <a:t>資深軟體工程師</a:t>
            </a:r>
            <a:endParaRPr lang="zh-TW" altLang="en-US" sz="11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endParaRPr lang="zh-TW" altLang="en-US" sz="11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</a:rPr>
              <a:t>            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202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</a:rPr>
              <a:t>4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/11 - </a:t>
            </a:r>
            <a:r>
              <a:rPr lang="en-US" altLang="zh-TW" sz="1500" dirty="0">
                <a:latin typeface="微軟正黑體" panose="020B0604030504040204" charset="-120"/>
                <a:ea typeface="微軟正黑體" panose="020B0604030504040204" charset="-120"/>
              </a:rPr>
              <a:t>Present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	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	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endParaRPr lang="zh-CN" altLang="en-US" sz="1800" dirty="0"/>
          </a:p>
        </p:txBody>
      </p:sp>
      <p:sp>
        <p:nvSpPr>
          <p:cNvPr id="4100" name="矩形 4099"/>
          <p:cNvSpPr>
            <a:spLocks noGrp="1"/>
          </p:cNvSpPr>
          <p:nvPr/>
        </p:nvSpPr>
        <p:spPr>
          <a:xfrm>
            <a:off x="3071813" y="1851025"/>
            <a:ext cx="6038850" cy="36671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主要工作內容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警勤日報系統開發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</a:t>
            </a: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IoT Metal Gate Dashboard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開發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使用語言&amp;技術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語言：</a:t>
            </a: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Python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、</a:t>
            </a: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Typescript</a:t>
            </a:r>
            <a:endParaRPr lang="en-US" altLang="zh-TW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indent="0">
              <a:buSzPct val="100000"/>
              <a:buFont typeface="Arial" panose="020B0604020202020204" pitchFamily="34" charset="0"/>
              <a:buNone/>
            </a:pP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-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框架：</a:t>
            </a: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Django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、</a:t>
            </a: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React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資料庫：</a:t>
            </a: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MariaDB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、</a:t>
            </a: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SQLite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、</a:t>
            </a: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SQL Server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版本控制：Git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測試工具：Postman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其他：</a:t>
            </a: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LoRa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、</a:t>
            </a: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RabbitMQ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/>
            <a:endParaRPr lang="zh-CN" altLang="en-US" sz="1800" dirty="0"/>
          </a:p>
        </p:txBody>
      </p:sp>
      <p:sp>
        <p:nvSpPr>
          <p:cNvPr id="4101" name="直線連接符 4100"/>
          <p:cNvSpPr/>
          <p:nvPr/>
        </p:nvSpPr>
        <p:spPr>
          <a:xfrm>
            <a:off x="3071813" y="1851025"/>
            <a:ext cx="1587" cy="36671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" name="圖片 2" descr="images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930" y="2637155"/>
            <a:ext cx="996315" cy="5060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098" name="標題 4097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工作經驗</a:t>
            </a:r>
            <a:endParaRPr lang="zh-TW" altLang="en-US" sz="2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4099" name="矩形 4098"/>
          <p:cNvSpPr>
            <a:spLocks noGrp="1"/>
          </p:cNvSpPr>
          <p:nvPr/>
        </p:nvSpPr>
        <p:spPr>
          <a:xfrm>
            <a:off x="107950" y="3211513"/>
            <a:ext cx="2962275" cy="114776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英仕國際有限公司</a:t>
            </a: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  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100" dirty="0">
                <a:latin typeface="微軟正黑體" panose="020B0604030504040204" charset="-120"/>
                <a:ea typeface="微軟正黑體" panose="020B0604030504040204" charset="-120"/>
              </a:rPr>
              <a:t>後端工程師</a:t>
            </a:r>
            <a:endParaRPr lang="zh-TW" altLang="en-US" sz="11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endParaRPr lang="zh-TW" altLang="en-US" sz="11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2023/11 - 2024/7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	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	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endParaRPr lang="zh-CN" altLang="en-US" sz="1800" dirty="0"/>
          </a:p>
        </p:txBody>
      </p:sp>
      <p:sp>
        <p:nvSpPr>
          <p:cNvPr id="4100" name="矩形 4099"/>
          <p:cNvSpPr>
            <a:spLocks noGrp="1"/>
          </p:cNvSpPr>
          <p:nvPr/>
        </p:nvSpPr>
        <p:spPr>
          <a:xfrm>
            <a:off x="3071813" y="1851025"/>
            <a:ext cx="6038850" cy="36671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主要工作內容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維護現有網頁平台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業務邏輯處理(修改 &amp; 新增 API)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維護資料庫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使用語言&amp;技術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語言：Golang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indent="0">
              <a:buSzPct val="100000"/>
              <a:buFont typeface="Arial" panose="020B0604020202020204" pitchFamily="34" charset="0"/>
              <a:buNone/>
            </a:pP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-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框架：</a:t>
            </a: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Gin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資料庫：MySQL、Redis、MongoDB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版本控制：Git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測試工具：Postman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其他：Docker、GCP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、K8s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/>
            <a:endParaRPr lang="zh-CN" altLang="en-US" sz="1800" dirty="0"/>
          </a:p>
        </p:txBody>
      </p:sp>
      <p:sp>
        <p:nvSpPr>
          <p:cNvPr id="4101" name="直線連接符 4100"/>
          <p:cNvSpPr/>
          <p:nvPr/>
        </p:nvSpPr>
        <p:spPr>
          <a:xfrm>
            <a:off x="3071813" y="1851025"/>
            <a:ext cx="1587" cy="36671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22" name="矩形 5121"/>
          <p:cNvSpPr>
            <a:spLocks noGrp="1"/>
          </p:cNvSpPr>
          <p:nvPr/>
        </p:nvSpPr>
        <p:spPr>
          <a:xfrm>
            <a:off x="180975" y="3209925"/>
            <a:ext cx="3035300" cy="10763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華新麗華股份有限公司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100" dirty="0">
                <a:latin typeface="微軟正黑體" panose="020B0604030504040204" charset="-120"/>
                <a:ea typeface="微軟正黑體" panose="020B0604030504040204" charset="-120"/>
              </a:rPr>
              <a:t>資深程控工程師</a:t>
            </a:r>
            <a:endParaRPr lang="zh-TW" altLang="en-US" sz="11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endParaRPr lang="zh-TW" altLang="en-US" sz="11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2019/11 - 2023/8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endParaRPr lang="zh-CN" altLang="en-US" sz="1800" dirty="0"/>
          </a:p>
        </p:txBody>
      </p:sp>
      <p:sp>
        <p:nvSpPr>
          <p:cNvPr id="5123" name="標題 5122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ln/>
        </p:spPr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工作經驗</a:t>
            </a:r>
            <a:endParaRPr lang="zh-TW" altLang="en-US" sz="2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pic>
        <p:nvPicPr>
          <p:cNvPr id="5124" name="圖片 51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2562225"/>
            <a:ext cx="1876425" cy="53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矩形 5124"/>
          <p:cNvSpPr>
            <a:spLocks noGrp="1"/>
          </p:cNvSpPr>
          <p:nvPr/>
        </p:nvSpPr>
        <p:spPr>
          <a:xfrm>
            <a:off x="3070225" y="1417638"/>
            <a:ext cx="6037263" cy="51784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主要工作內容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開發 IOT 影像處理專案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開發智慧排程專案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程式維護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資料庫維護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使用語言&amp;技術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語言：Python、JAVA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資料庫：MySQL、Oracle、PostgreSQL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版本控制：Git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測試工具：Postman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500" dirty="0">
                <a:ea typeface="新細明體" panose="02020500000000000000" charset="-120"/>
              </a:rPr>
              <a:t>	</a:t>
            </a:r>
            <a:endParaRPr lang="zh-CN" altLang="en-US" sz="1500" dirty="0"/>
          </a:p>
        </p:txBody>
      </p:sp>
      <p:sp>
        <p:nvSpPr>
          <p:cNvPr id="5126" name="直線連接符 5125"/>
          <p:cNvSpPr/>
          <p:nvPr/>
        </p:nvSpPr>
        <p:spPr>
          <a:xfrm>
            <a:off x="3070225" y="1419225"/>
            <a:ext cx="3175" cy="3810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4" name="標題 8193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專案介紹 </a:t>
            </a:r>
            <a:r>
              <a:rPr lang="zh-TW" altLang="en-US" sz="2000" b="1" dirty="0">
                <a:latin typeface="微軟正黑體" panose="020B0604030504040204" charset="-120"/>
                <a:ea typeface="微軟正黑體" panose="020B0604030504040204" charset="-120"/>
              </a:rPr>
              <a:t>警勤日報系統</a:t>
            </a:r>
            <a:endParaRPr lang="zh-TW" altLang="en-US" sz="2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3" name="文字框 2"/>
          <p:cNvSpPr txBox="1"/>
          <p:nvPr/>
        </p:nvSpPr>
        <p:spPr>
          <a:xfrm>
            <a:off x="1304925" y="25676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 </a:t>
            </a:r>
            <a:endParaRPr lang="en-US" altLang="zh-CN" sz="1600"/>
          </a:p>
        </p:txBody>
      </p:sp>
      <p:pic>
        <p:nvPicPr>
          <p:cNvPr id="4" name="圖片 3"/>
          <p:cNvPicPr/>
          <p:nvPr/>
        </p:nvPicPr>
        <p:blipFill>
          <a:blip r:embed="rId1"/>
          <a:srcRect t="14860"/>
          <a:stretch>
            <a:fillRect/>
          </a:stretch>
        </p:blipFill>
        <p:spPr>
          <a:xfrm>
            <a:off x="179705" y="1767840"/>
            <a:ext cx="8737600" cy="41255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146" name="矩形 6145"/>
          <p:cNvSpPr>
            <a:spLocks noGrp="1"/>
          </p:cNvSpPr>
          <p:nvPr/>
        </p:nvSpPr>
        <p:spPr>
          <a:xfrm>
            <a:off x="55563" y="1400175"/>
            <a:ext cx="8045450" cy="42640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專案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內容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與使用者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討論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業務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邏輯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實作後端邏輯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、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前端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頁面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實作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權限管控 (JWT)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使用技術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後端 :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JAVA( Spring Boot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框架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)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前端 :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Typescript(Angular 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框架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)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成果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優化生計人員的日常流程，簡化為一鍵式操作。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作業時間從 1.5 小時縮減至 20 分鐘。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500" dirty="0">
                <a:ea typeface="新細明體" panose="02020500000000000000" charset="-120"/>
              </a:rPr>
              <a:t>	</a:t>
            </a:r>
            <a:endParaRPr lang="zh-CN" altLang="en-US" sz="1500" dirty="0"/>
          </a:p>
        </p:txBody>
      </p:sp>
      <p:sp>
        <p:nvSpPr>
          <p:cNvPr id="6147" name="標題 6146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ln/>
        </p:spPr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專案介紹</a:t>
            </a:r>
            <a:r>
              <a:rPr lang="zh-TW" altLang="en-US" sz="3600" b="1" dirty="0">
                <a:latin typeface="微軟正黑體" panose="020B0604030504040204" charset="-120"/>
                <a:ea typeface="微軟正黑體" panose="020B0604030504040204" charset="-120"/>
              </a:rPr>
              <a:t> </a:t>
            </a:r>
            <a:r>
              <a:rPr lang="zh-TW" altLang="en-US" sz="2000" b="1" dirty="0">
                <a:latin typeface="微軟正黑體" panose="020B0604030504040204" charset="-120"/>
                <a:ea typeface="微軟正黑體" panose="020B0604030504040204" charset="-120"/>
              </a:rPr>
              <a:t>鋼捲配料 UI 介面開發</a:t>
            </a:r>
            <a:endParaRPr lang="zh-TW" altLang="en-US" sz="2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0" name="矩形 7169"/>
          <p:cNvSpPr>
            <a:spLocks noGrp="1"/>
          </p:cNvSpPr>
          <p:nvPr/>
        </p:nvSpPr>
        <p:spPr>
          <a:xfrm>
            <a:off x="55563" y="1400175"/>
            <a:ext cx="8045450" cy="42640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專案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內容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收集持有證照工人照片。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訓練人臉辨識模型。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串接 Remote I/O 走 Modbus 通訊協議。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使用技術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Python、Remote I/O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成果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設備管理資訊化，借用、歸還皆紀錄在資料庫。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減少潛在工安疑慮。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500" dirty="0">
                <a:ea typeface="新細明體" panose="02020500000000000000" charset="-120"/>
              </a:rPr>
              <a:t>	</a:t>
            </a:r>
            <a:endParaRPr lang="zh-CN" altLang="en-US" sz="1500" dirty="0"/>
          </a:p>
        </p:txBody>
      </p:sp>
      <p:sp>
        <p:nvSpPr>
          <p:cNvPr id="7171" name="標題 7170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ln/>
        </p:spPr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專案介紹</a:t>
            </a:r>
            <a:r>
              <a:rPr lang="zh-TW" altLang="en-US" sz="3600" b="1" dirty="0">
                <a:latin typeface="微軟正黑體" panose="020B0604030504040204" charset="-120"/>
                <a:ea typeface="微軟正黑體" panose="020B0604030504040204" charset="-120"/>
              </a:rPr>
              <a:t> </a:t>
            </a:r>
            <a:r>
              <a:rPr lang="zh-TW" altLang="en-US" sz="2000" b="1" dirty="0">
                <a:latin typeface="微軟正黑體" panose="020B0604030504040204" charset="-120"/>
                <a:ea typeface="微軟正黑體" panose="020B0604030504040204" charset="-120"/>
              </a:rPr>
              <a:t>天車遙控器智能門禁管制系統</a:t>
            </a:r>
            <a:endParaRPr lang="zh-TW" altLang="en-US" sz="2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pic>
        <p:nvPicPr>
          <p:cNvPr id="7172" name="圖片 717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6200" y="1419225"/>
            <a:ext cx="3530600" cy="15954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3" name="圖片 71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25" y="3213100"/>
            <a:ext cx="1655763" cy="25860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4" name="圖片 71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988" y="3213100"/>
            <a:ext cx="1670050" cy="25860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194" name="標題 8193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ln/>
        </p:spPr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專案介紹 </a:t>
            </a:r>
            <a:r>
              <a:rPr lang="zh-TW" altLang="en-US" sz="2000" b="1" dirty="0">
                <a:latin typeface="微軟正黑體" panose="020B0604030504040204" charset="-120"/>
                <a:ea typeface="微軟正黑體" panose="020B0604030504040204" charset="-120"/>
              </a:rPr>
              <a:t>整合式油桶儀表與車牌自動化辨識系統</a:t>
            </a:r>
            <a:endParaRPr lang="zh-TW" altLang="en-US" sz="2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pic>
        <p:nvPicPr>
          <p:cNvPr id="8195" name="Picture 2"/>
          <p:cNvPicPr>
            <a:picLocks noChangeAspect="1"/>
          </p:cNvPicPr>
          <p:nvPr/>
        </p:nvPicPr>
        <p:blipFill>
          <a:blip r:embed="rId1"/>
          <a:srcRect l="8635" t="17155" r="20816"/>
          <a:stretch>
            <a:fillRect/>
          </a:stretch>
        </p:blipFill>
        <p:spPr>
          <a:xfrm>
            <a:off x="5075238" y="1419225"/>
            <a:ext cx="1655762" cy="1539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338" y="3070225"/>
            <a:ext cx="2016125" cy="1920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75" y="1411288"/>
            <a:ext cx="1655763" cy="15478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8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375" y="3051175"/>
            <a:ext cx="1917700" cy="2111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199" name="圖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925" y="3644900"/>
            <a:ext cx="2881313" cy="2289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00" name="矩形 8199"/>
          <p:cNvSpPr>
            <a:spLocks noGrp="1"/>
          </p:cNvSpPr>
          <p:nvPr/>
        </p:nvSpPr>
        <p:spPr>
          <a:xfrm>
            <a:off x="55563" y="1398588"/>
            <a:ext cx="7758112" cy="4191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專案</a:t>
            </a: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內容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收集儀表、車牌照片。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使用 YOLOv3 訓練辨識模型。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辨識儀表、車牌後經過計算儲存於資料庫。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使用技術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Python、</a:t>
            </a:r>
            <a:r>
              <a:rPr lang="en-US" altLang="zh-TW" sz="1800" dirty="0">
                <a:latin typeface="微軟正黑體" panose="020B0604030504040204" charset="-120"/>
                <a:ea typeface="微軟正黑體" panose="020B0604030504040204" charset="-120"/>
              </a:rPr>
              <a:t>Keras-FaceNet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成果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減少操作員紀錄時間。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	- 去紙本化，加油前後數值、車牌皆紀錄在資料庫。</a:t>
            </a:r>
            <a:endParaRPr lang="zh-CN" altLang="en-US" sz="1500" dirty="0"/>
          </a:p>
        </p:txBody>
      </p:sp>
      <p:sp>
        <p:nvSpPr>
          <p:cNvPr id="3" name="文字框 2"/>
          <p:cNvSpPr txBox="1"/>
          <p:nvPr/>
        </p:nvSpPr>
        <p:spPr>
          <a:xfrm>
            <a:off x="1304925" y="25676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 </a:t>
            </a:r>
            <a:endParaRPr lang="en-US" altLang="zh-CN" sz="16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18" name="標題 9217"/>
          <p:cNvSpPr>
            <a:spLocks noGrp="1"/>
          </p:cNvSpPr>
          <p:nvPr>
            <p:ph type="title"/>
          </p:nvPr>
        </p:nvSpPr>
        <p:spPr>
          <a:xfrm>
            <a:off x="457200" y="2924175"/>
            <a:ext cx="8229600" cy="1143000"/>
          </a:xfrm>
          <a:ln/>
        </p:spPr>
        <p:txBody>
          <a:bodyPr vert="horz" wrap="square" anchor="ctr" anchorCtr="0"/>
          <a:p>
            <a:r>
              <a:rPr lang="en-US" altLang="zh-TW" sz="4000" b="1" dirty="0">
                <a:latin typeface="微軟正黑體" panose="020B0604030504040204" charset="-120"/>
                <a:ea typeface="微軟正黑體" panose="020B0604030504040204" charset="-120"/>
              </a:rPr>
              <a:t>Backup</a:t>
            </a:r>
            <a:endParaRPr lang="en-US" altLang="zh-TW" sz="4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2" name="矩形 10241"/>
          <p:cNvSpPr>
            <a:spLocks noGrp="1"/>
          </p:cNvSpPr>
          <p:nvPr/>
        </p:nvSpPr>
        <p:spPr>
          <a:xfrm>
            <a:off x="36513" y="2565400"/>
            <a:ext cx="2516187" cy="3587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2023/1 - 2023/8</a:t>
            </a:r>
            <a:endParaRPr lang="zh-CN" altLang="en-US" sz="1400" dirty="0"/>
          </a:p>
        </p:txBody>
      </p:sp>
      <p:sp>
        <p:nvSpPr>
          <p:cNvPr id="10243" name="標題 10242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ln/>
        </p:spPr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工作經歷 </a:t>
            </a:r>
            <a:r>
              <a:rPr lang="zh-TW" altLang="en-US" sz="2000" b="1" dirty="0">
                <a:latin typeface="微軟正黑體" panose="020B0604030504040204" charset="-120"/>
                <a:ea typeface="微軟正黑體" panose="020B0604030504040204" charset="-120"/>
              </a:rPr>
              <a:t>華新麗華(近到遠)</a:t>
            </a:r>
            <a:endParaRPr lang="zh-TW" altLang="en-US" sz="2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0244" name="矩形 10243"/>
          <p:cNvSpPr>
            <a:spLocks noGrp="1"/>
          </p:cNvSpPr>
          <p:nvPr/>
        </p:nvSpPr>
        <p:spPr>
          <a:xfrm>
            <a:off x="2555875" y="1416050"/>
            <a:ext cx="6553200" cy="25177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專案：鋼捲配料 UI 介面開發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主要工作：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與客戶討論應用邏輯，實作前端頁面、後端 API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使用技術：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後端：JAVA、Spring Boot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前端：Typescript、Angular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成果：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優化生計人員的日常流程，簡化為一鍵式操作。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作業時間從 1.5 小時縮減至 20 分鐘。</a:t>
            </a:r>
            <a:endParaRPr lang="zh-CN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0245" name="直線連接符 10244"/>
          <p:cNvSpPr/>
          <p:nvPr/>
        </p:nvSpPr>
        <p:spPr>
          <a:xfrm flipH="1">
            <a:off x="2552700" y="1416050"/>
            <a:ext cx="3175" cy="2438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6" name="矩形 10245"/>
          <p:cNvSpPr>
            <a:spLocks noGrp="1"/>
          </p:cNvSpPr>
          <p:nvPr/>
        </p:nvSpPr>
        <p:spPr>
          <a:xfrm>
            <a:off x="2552700" y="4076700"/>
            <a:ext cx="6553200" cy="22320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專案：先進智慧排程系統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主要工作：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深入了解 21 個工作站工時、特性與搬運時間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研究並設計出合適的生產路線，為不同的產品進行客製化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使用技術：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Python、Django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成果：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優化產線人員排程工時，只需檢查是否合理並且微調即可</a:t>
            </a:r>
            <a:endParaRPr lang="zh-CN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0247" name="直線連接符 10246"/>
          <p:cNvSpPr/>
          <p:nvPr/>
        </p:nvSpPr>
        <p:spPr>
          <a:xfrm>
            <a:off x="2559050" y="4076700"/>
            <a:ext cx="0" cy="22320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8" name="矩形 10247"/>
          <p:cNvSpPr>
            <a:spLocks noGrp="1"/>
          </p:cNvSpPr>
          <p:nvPr/>
        </p:nvSpPr>
        <p:spPr>
          <a:xfrm>
            <a:off x="36513" y="5013325"/>
            <a:ext cx="2555875" cy="28733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2021/9 - 2022/12</a:t>
            </a:r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66" name="標題 11265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ln/>
        </p:spPr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工作經歷 </a:t>
            </a:r>
            <a:r>
              <a:rPr lang="zh-TW" altLang="en-US" sz="2000" b="1" dirty="0">
                <a:latin typeface="微軟正黑體" panose="020B0604030504040204" charset="-120"/>
                <a:ea typeface="微軟正黑體" panose="020B0604030504040204" charset="-120"/>
              </a:rPr>
              <a:t>華新麗華(近到遠)</a:t>
            </a:r>
            <a:endParaRPr lang="zh-TW" altLang="en-US" sz="2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1267" name="矩形 11266"/>
          <p:cNvSpPr>
            <a:spLocks noGrp="1"/>
          </p:cNvSpPr>
          <p:nvPr/>
        </p:nvSpPr>
        <p:spPr>
          <a:xfrm>
            <a:off x="2552700" y="1270000"/>
            <a:ext cx="6553200" cy="28082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專案：天車遙控器智能門禁管制系統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主要工作：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收集持有證照的工人面部照片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訓練人臉辨識模型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串接 Modbus 驅動機箱開鎖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使用技術：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Python、Modbus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成果：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減少潛在可能發生的工安意外，隔絕無持有證照的操作者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設備管理資訊化，借用、歸還皆紀錄在資料庫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endParaRPr lang="zh-CN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1268" name="直線連接符 11267"/>
          <p:cNvSpPr/>
          <p:nvPr/>
        </p:nvSpPr>
        <p:spPr>
          <a:xfrm flipH="1">
            <a:off x="2549525" y="1270000"/>
            <a:ext cx="3175" cy="25923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9" name="矩形 11268"/>
          <p:cNvSpPr>
            <a:spLocks noGrp="1"/>
          </p:cNvSpPr>
          <p:nvPr/>
        </p:nvSpPr>
        <p:spPr>
          <a:xfrm>
            <a:off x="0" y="2492375"/>
            <a:ext cx="2549525" cy="360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2021/4 - 2021/8</a:t>
            </a:r>
            <a:endParaRPr lang="zh-CN" altLang="en-US" sz="1400" dirty="0"/>
          </a:p>
        </p:txBody>
      </p:sp>
      <p:sp>
        <p:nvSpPr>
          <p:cNvPr id="11270" name="矩形 11269"/>
          <p:cNvSpPr>
            <a:spLocks noGrp="1"/>
          </p:cNvSpPr>
          <p:nvPr/>
        </p:nvSpPr>
        <p:spPr>
          <a:xfrm>
            <a:off x="2549525" y="4438650"/>
            <a:ext cx="6553200" cy="25923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專案：整合式油桶儀表與車牌自動化辨識系統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主要工作：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收集油桶儀表數字照片、堆高機車牌數字照片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使用 YOLOv3 訓練模型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使用技術：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Python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成果：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減少操作員紀錄時間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去紙本化，加油前後數值皆紀錄在資料庫</a:t>
            </a:r>
            <a:endParaRPr lang="zh-CN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1271" name="直線連接符 11270"/>
          <p:cNvSpPr/>
          <p:nvPr/>
        </p:nvSpPr>
        <p:spPr>
          <a:xfrm flipH="1">
            <a:off x="2549525" y="4438650"/>
            <a:ext cx="4763" cy="23034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2" name="矩形 11271"/>
          <p:cNvSpPr>
            <a:spLocks noGrp="1"/>
          </p:cNvSpPr>
          <p:nvPr/>
        </p:nvSpPr>
        <p:spPr>
          <a:xfrm>
            <a:off x="0" y="5229225"/>
            <a:ext cx="2554288" cy="360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2021/4 - 2021/8</a:t>
            </a:r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2290" name="標題 12289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ln/>
        </p:spPr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工作經歷 </a:t>
            </a:r>
            <a:r>
              <a:rPr lang="zh-TW" altLang="en-US" sz="2000" b="1" dirty="0">
                <a:latin typeface="微軟正黑體" panose="020B0604030504040204" charset="-120"/>
                <a:ea typeface="微軟正黑體" panose="020B0604030504040204" charset="-120"/>
              </a:rPr>
              <a:t>華新麗華(近到遠)</a:t>
            </a:r>
            <a:endParaRPr lang="zh-TW" altLang="en-US" sz="2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2291" name="直線連接符 12290"/>
          <p:cNvSpPr/>
          <p:nvPr/>
        </p:nvSpPr>
        <p:spPr>
          <a:xfrm flipH="1">
            <a:off x="2549525" y="1270000"/>
            <a:ext cx="3175" cy="28082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2" name="矩形 12291"/>
          <p:cNvSpPr>
            <a:spLocks noGrp="1"/>
          </p:cNvSpPr>
          <p:nvPr/>
        </p:nvSpPr>
        <p:spPr>
          <a:xfrm>
            <a:off x="2552700" y="1270000"/>
            <a:ext cx="6553200" cy="23749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專案：4 呎軋機設備預診斷系統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主要工作：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與資策會團隊和亞洲大學教授合作共同開發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利用加速規收集震動數據，對其工作狀態進行分析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訓練預測模型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使用技術：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Python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成果：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能高機率預測軋機的軸承損壞，提前停機維修避免造成嚴重損失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每年可減少維修成本約 996800 元耗材費用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投稿華新內部技術論文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endParaRPr lang="zh-CN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2293" name="矩形 12292"/>
          <p:cNvSpPr>
            <a:spLocks noGrp="1"/>
          </p:cNvSpPr>
          <p:nvPr/>
        </p:nvSpPr>
        <p:spPr>
          <a:xfrm>
            <a:off x="2554288" y="4364038"/>
            <a:ext cx="6553200" cy="23749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專案：直棒冷抽製程即時彎曲檢測系統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主要工作：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利用影像即時檢測工件的彎曲，以便作業員調整製程參數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使用技術：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Python、C#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成果：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	- 減少工件回爐次數，提高產品的良率</a:t>
            </a:r>
            <a:endParaRPr lang="zh-TW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0">
              <a:buNone/>
            </a:pPr>
            <a:endParaRPr lang="zh-CN" altLang="en-US" sz="1400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2294" name="直線連接符 12293"/>
          <p:cNvSpPr/>
          <p:nvPr/>
        </p:nvSpPr>
        <p:spPr>
          <a:xfrm>
            <a:off x="2552700" y="4364038"/>
            <a:ext cx="0" cy="18732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5" name="矩形 12294"/>
          <p:cNvSpPr>
            <a:spLocks noGrp="1"/>
          </p:cNvSpPr>
          <p:nvPr/>
        </p:nvSpPr>
        <p:spPr>
          <a:xfrm>
            <a:off x="0" y="2492375"/>
            <a:ext cx="2549525" cy="360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2020/4 - 2020/12</a:t>
            </a:r>
            <a:endParaRPr lang="zh-CN" altLang="en-US" sz="1400" dirty="0"/>
          </a:p>
        </p:txBody>
      </p:sp>
      <p:sp>
        <p:nvSpPr>
          <p:cNvPr id="12296" name="矩形 12295"/>
          <p:cNvSpPr>
            <a:spLocks noGrp="1"/>
          </p:cNvSpPr>
          <p:nvPr/>
        </p:nvSpPr>
        <p:spPr>
          <a:xfrm>
            <a:off x="0" y="5083175"/>
            <a:ext cx="2549525" cy="360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»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 algn="ctr">
              <a:buSzPct val="100000"/>
              <a:buFont typeface="Arial" panose="020B0604020202020204" pitchFamily="34" charset="0"/>
              <a:buNone/>
            </a:pPr>
            <a:r>
              <a:rPr lang="zh-TW" altLang="en-US" sz="1400" dirty="0">
                <a:latin typeface="微軟正黑體" panose="020B0604030504040204" charset="-120"/>
                <a:ea typeface="微軟正黑體" panose="020B0604030504040204" charset="-120"/>
              </a:rPr>
              <a:t>2019/12 - 2020/4</a:t>
            </a:r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14" name="標題 1331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專案附件 </a:t>
            </a:r>
            <a:r>
              <a:rPr lang="zh-TW" altLang="en-US" sz="2000" b="1" dirty="0">
                <a:latin typeface="微軟正黑體" panose="020B0604030504040204" charset="-120"/>
                <a:ea typeface="微軟正黑體" panose="020B0604030504040204" charset="-120"/>
              </a:rPr>
              <a:t>設備預診斷系統</a:t>
            </a:r>
            <a:endParaRPr lang="zh-TW" altLang="en-US" sz="2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3315" name="矩形 13314"/>
          <p:cNvSpPr>
            <a:spLocks noGrp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 anchorCtr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lvl="1" indent="-28575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lvl="2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lvl="3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lvl="4" indent="-228600" algn="l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</a:lstStyle>
          <a:p>
            <a:pPr lvl="0"/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網頁監控</a:t>
            </a:r>
            <a:endParaRPr lang="zh-CN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pic>
        <p:nvPicPr>
          <p:cNvPr id="13316" name="圖片 133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2205038"/>
            <a:ext cx="8455025" cy="35258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338" name="標題 14337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專案附件 </a:t>
            </a:r>
            <a:r>
              <a:rPr lang="zh-TW" altLang="en-US" sz="2000" b="1" dirty="0">
                <a:latin typeface="微軟正黑體" panose="020B0604030504040204" charset="-120"/>
                <a:ea typeface="微軟正黑體" panose="020B0604030504040204" charset="-120"/>
              </a:rPr>
              <a:t>設備預診斷系統</a:t>
            </a:r>
            <a:endParaRPr lang="zh-TW" altLang="en-US" sz="2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4339" name="內容佔位符 14338"/>
          <p:cNvSpPr>
            <a:spLocks noGrp="1"/>
          </p:cNvSpPr>
          <p:nvPr>
            <p:ph idx="1"/>
          </p:nvPr>
        </p:nvSpPr>
        <p:spPr>
          <a:ln/>
        </p:spPr>
        <p:txBody>
          <a:bodyPr/>
          <a:p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  <a:hlinkClick r:id="rId1" action="ppaction://hlinkfile"/>
              </a:rPr>
              <a:t>技術發表會論文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  <a:hlinkClick r:id="rId1" action="ppaction://hlinkfile"/>
            </a:endParaRPr>
          </a:p>
          <a:p>
            <a:endParaRPr lang="zh-CN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r>
              <a:rPr lang="zh-TW" altLang="en-US" sz="1800" dirty="0">
                <a:latin typeface="微軟正黑體" panose="020B0604030504040204" charset="-120"/>
                <a:ea typeface="微軟正黑體" panose="020B0604030504040204" charset="-120"/>
              </a:rPr>
              <a:t>論文結論</a:t>
            </a:r>
            <a:endParaRPr lang="zh-TW" altLang="en-US" sz="18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1"/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數據集：由於訓練數據中不同類別的差異性不顯著，模型在學習過程中過度強調訓練集的特異性，導致訓練過程好(97%、96%)，但測試集不佳(53%、80%)的情形，應更重視不同類別的特徵邊界。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1"/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1"/>
            <a:r>
              <a:rPr lang="zh-TW" altLang="en-US" sz="1500" dirty="0">
                <a:latin typeface="微軟正黑體" panose="020B0604030504040204" charset="-120"/>
                <a:ea typeface="微軟正黑體" panose="020B0604030504040204" charset="-120"/>
              </a:rPr>
              <a:t>改進方向：除了數據量增加外，可考慮其他特徵提取方式，PCA 降維、L1正則化等方式來加強模型。</a:t>
            </a:r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1"/>
            <a:endParaRPr lang="zh-TW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  <a:p>
            <a:pPr lvl="1"/>
            <a:endParaRPr lang="zh-CN" altLang="en-US" sz="1500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386" name="標題 16385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anchor="ctr" anchorCtr="0"/>
          <a:p>
            <a:pPr algn="l"/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碩士論文摘要</a:t>
            </a:r>
            <a:endParaRPr lang="zh-TW" altLang="en-US" sz="4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  <p:sp>
        <p:nvSpPr>
          <p:cNvPr id="16387" name="內容佔位符 16386"/>
          <p:cNvSpPr>
            <a:spLocks noGrp="1"/>
          </p:cNvSpPr>
          <p:nvPr>
            <p:ph idx="1"/>
          </p:nvPr>
        </p:nvSpPr>
        <p:spPr>
          <a:ln/>
        </p:spPr>
        <p:txBody>
          <a:bodyPr/>
          <a:p>
            <a:r>
              <a:rPr lang="zh-CN" altLang="en-US" sz="1800">
                <a:ea typeface="微軟正黑體" panose="020B0604030504040204" charset="-120"/>
                <a:hlinkClick r:id="rId1" action="ppaction://hlinkfile"/>
              </a:rPr>
              <a:t>論文摘要</a:t>
            </a:r>
            <a:endParaRPr lang="zh-CN" altLang="en-US" sz="1800">
              <a:ea typeface="微軟正黑體" panose="020B0604030504040204" charset="-120"/>
              <a:hlinkClick r:id="rId1" action="ppaction://hlinkfile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燈片編號佔位符 1"/>
          <p:cNvSpPr/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410" name="標題 17409"/>
          <p:cNvSpPr>
            <a:spLocks noGrp="1"/>
          </p:cNvSpPr>
          <p:nvPr>
            <p:ph type="title"/>
          </p:nvPr>
        </p:nvSpPr>
        <p:spPr>
          <a:xfrm>
            <a:off x="457200" y="2782888"/>
            <a:ext cx="8229600" cy="1143000"/>
          </a:xfrm>
          <a:ln/>
        </p:spPr>
        <p:txBody>
          <a:bodyPr vert="horz" wrap="square" anchor="ctr" anchorCtr="0"/>
          <a:p>
            <a:r>
              <a:rPr lang="zh-TW" altLang="en-US" sz="4000" b="1" dirty="0">
                <a:latin typeface="微軟正黑體" panose="020B0604030504040204" charset="-120"/>
                <a:ea typeface="微軟正黑體" panose="020B0604030504040204" charset="-120"/>
              </a:rPr>
              <a:t>E</a:t>
            </a:r>
            <a:r>
              <a:rPr lang="en-US" altLang="zh-TW" sz="4000" b="1" dirty="0">
                <a:latin typeface="微軟正黑體" panose="020B0604030504040204" charset="-120"/>
                <a:ea typeface="微軟正黑體" panose="020B0604030504040204" charset="-120"/>
              </a:rPr>
              <a:t>nd</a:t>
            </a:r>
            <a:endParaRPr lang="en-US" altLang="zh-TW" sz="4000" b="1" dirty="0">
              <a:latin typeface="微軟正黑體" panose="020B0604030504040204" charset="-120"/>
              <a:ea typeface="微軟正黑體" panose="020B0604030504040204" charset="-12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預設設計模板">
  <a:themeElements>
    <a:clrScheme name="">
      <a:dk1>
        <a:srgbClr val="000000"/>
      </a:dk1>
      <a:lt1>
        <a:srgbClr val="E3E4E4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EEEFEF"/>
      </a:accent3>
      <a:accent4>
        <a:srgbClr val="000000"/>
      </a:accent4>
      <a:accent5>
        <a:srgbClr val="E3EBF8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42D5F0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B0E6F6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879DAB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C3CCD2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CCCFC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E2E3E3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E3E4E4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EEEFEF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預設設計模板">
  <a:themeElements>
    <a:clrScheme name="">
      <a:dk1>
        <a:srgbClr val="000000"/>
      </a:dk1>
      <a:lt1>
        <a:srgbClr val="E3E4E4"/>
      </a:lt1>
      <a:dk2>
        <a:srgbClr val="000000"/>
      </a:dk2>
      <a:lt2>
        <a:srgbClr val="808080"/>
      </a:lt2>
      <a:accent1>
        <a:srgbClr val="CFDEF3"/>
      </a:accent1>
      <a:accent2>
        <a:srgbClr val="333399"/>
      </a:accent2>
      <a:accent3>
        <a:srgbClr val="EEEFEF"/>
      </a:accent3>
      <a:accent4>
        <a:srgbClr val="000000"/>
      </a:accent4>
      <a:accent5>
        <a:srgbClr val="E3EBF8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42D5F0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B0E6F6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879DAB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C3CCD2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CCCFC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E2E3E3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E3E4E4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EEEFEF"/>
        </a:accent3>
        <a:accent4>
          <a:srgbClr val="000000"/>
        </a:accent4>
        <a:accent5>
          <a:srgbClr val="E3EBF8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2404</Words>
  <Application>WPS Presentation</Application>
  <PresentationFormat>在屏幕上显示</PresentationFormat>
  <Paragraphs>273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80" baseType="lpstr">
      <vt:lpstr>Arial</vt:lpstr>
      <vt:lpstr>SimSun</vt:lpstr>
      <vt:lpstr>Wingdings</vt:lpstr>
      <vt:lpstr>Calibri</vt:lpstr>
      <vt:lpstr>黑体</vt:lpstr>
      <vt:lpstr>Arial Rounded MT Bold</vt:lpstr>
      <vt:lpstr>华文细黑</vt:lpstr>
      <vt:lpstr>Microsoft YaHei</vt:lpstr>
      <vt:lpstr>MS UI Gothic</vt:lpstr>
      <vt:lpstr>Arial Black</vt:lpstr>
      <vt:lpstr>Gulim</vt:lpstr>
      <vt:lpstr>Malgun Gothic</vt:lpstr>
      <vt:lpstr>Times New Roman</vt:lpstr>
      <vt:lpstr>Arial Narrow</vt:lpstr>
      <vt:lpstr>MS PGothic</vt:lpstr>
      <vt:lpstr>Segoe Light</vt:lpstr>
      <vt:lpstr>Segoe Print</vt:lpstr>
      <vt:lpstr>Arnprior</vt:lpstr>
      <vt:lpstr>Verdana</vt:lpstr>
      <vt:lpstr>微软繁黑体</vt:lpstr>
      <vt:lpstr>Latha</vt:lpstr>
      <vt:lpstr>Arial Unicode MS</vt:lpstr>
      <vt:lpstr>楷体_GB2312</vt:lpstr>
      <vt:lpstr>NSimSun</vt:lpstr>
      <vt:lpstr>华文行楷</vt:lpstr>
      <vt:lpstr>HY헤드라인M</vt:lpstr>
      <vt:lpstr>Britannic Bold</vt:lpstr>
      <vt:lpstr>华文隶书</vt:lpstr>
      <vt:lpstr>隶书</vt:lpstr>
      <vt:lpstr>Tahoma</vt:lpstr>
      <vt:lpstr>Batang</vt:lpstr>
      <vt:lpstr>Constantia</vt:lpstr>
      <vt:lpstr>超世纪粗印篆</vt:lpstr>
      <vt:lpstr>新細明體</vt:lpstr>
      <vt:lpstr>細明體</vt:lpstr>
      <vt:lpstr>方正粗倩简体</vt:lpstr>
      <vt:lpstr>方正综艺简体</vt:lpstr>
      <vt:lpstr>HY견고딕</vt:lpstr>
      <vt:lpstr>가는으뜸체</vt:lpstr>
      <vt:lpstr>GulimChe</vt:lpstr>
      <vt:lpstr>BatangChe</vt:lpstr>
      <vt:lpstr>견고딕</vt:lpstr>
      <vt:lpstr>Symbol</vt:lpstr>
      <vt:lpstr>Futura Bk</vt:lpstr>
      <vt:lpstr>Century Gothic</vt:lpstr>
      <vt:lpstr>Monotype Sorts</vt:lpstr>
      <vt:lpstr>Wingdings</vt:lpstr>
      <vt:lpstr>Gautami</vt:lpstr>
      <vt:lpstr>Borg 9</vt:lpstr>
      <vt:lpstr>Adobe 明體 Std L</vt:lpstr>
      <vt:lpstr>Adobe Myungjo Std M</vt:lpstr>
      <vt:lpstr>Yu Gothic</vt:lpstr>
      <vt:lpstr>Cooper Black</vt:lpstr>
      <vt:lpstr>Wingdings 2</vt:lpstr>
      <vt:lpstr>MS Mincho</vt:lpstr>
      <vt:lpstr>宋体-18030</vt:lpstr>
      <vt:lpstr>ArialS</vt:lpstr>
      <vt:lpstr>標楷體</vt:lpstr>
      <vt:lpstr>微軟正黑體</vt:lpstr>
      <vt:lpstr>華康細黑體</vt:lpstr>
      <vt:lpstr>Trebuchet MS</vt:lpstr>
      <vt:lpstr>Arial Unicode MS</vt:lpstr>
      <vt:lpstr>預設設計模板</vt:lpstr>
      <vt:lpstr>1_預設設計模板</vt:lpstr>
      <vt:lpstr>個人簡介 學歷、技能</vt:lpstr>
      <vt:lpstr>工作經驗</vt:lpstr>
      <vt:lpstr>PowerPoint 演示文稿</vt:lpstr>
      <vt:lpstr>PowerPoint 演示文稿</vt:lpstr>
      <vt:lpstr>專案介紹 整合式油桶儀表與車牌自動化辨識系統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jihon</dc:creator>
  <cp:lastModifiedBy>jihon</cp:lastModifiedBy>
  <cp:revision>7</cp:revision>
  <dcterms:created xsi:type="dcterms:W3CDTF">2013-01-25T01:44:32Z</dcterms:created>
  <dcterms:modified xsi:type="dcterms:W3CDTF">2026-01-25T11:28:38Z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3076-12.2.0.23155</vt:lpwstr>
  </property>
  <property fmtid="{D5CDD505-2E9C-101B-9397-08002B2CF9AE}" pid="3" name="ICV">
    <vt:lpwstr>0E396924B916407FA26F6257C1FE7B6E_12</vt:lpwstr>
  </property>
</Properties>
</file>